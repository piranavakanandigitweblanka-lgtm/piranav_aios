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5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session: we are setting up an AI skill that gives Claude Code design intelligence before it writes a single line of Shopify Liquid.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the gap: Claude Code is great at Liquid logic but has no design memory. The UI skill closes that gap.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core value: the skill auto-generates a complete design system before Claude touches the code. 161 industry-specific rules means e-commerce projects get e-commerce-appropriate patterns.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Steps 1 and 2 are one-time. Step 3 is per session. Step 4 is project-specific — CLAUDE.md is what ties the generic UI skill to your Shopify conventions.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magic is the combination. The skill provides generic design intelligence; CLAUDE.md narrows it to your exact theme conventions. Neither is enough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real prompts you'd type into Claude Code after the setup. The skill ensures the design system is selected before any code is written.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sell: this isn't just a time-saver — it enforces quality. Every section that comes out of Claude Code will be accessible, SEO-compliant, and on-brand.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emphasizing: 30-minute one-time setup, zero cost, then every future section build benefits from design intelligence automatically.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731520"/>
            <a:ext cx="4114800" cy="4114800"/>
          </a:xfrm>
          <a:prstGeom prst="ellipse">
            <a:avLst/>
          </a:prstGeom>
          <a:solidFill>
            <a:srgbClr val="7C3AED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274320"/>
            <a:ext cx="2743200" cy="2743200"/>
          </a:xfrm>
          <a:prstGeom prst="ellipse">
            <a:avLst/>
          </a:prstGeom>
          <a:solidFill>
            <a:srgbClr val="A855F7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658368"/>
            <a:ext cx="1371600" cy="256032"/>
          </a:xfrm>
          <a:prstGeom prst="rect">
            <a:avLst>
              <a:gd name="adj" fmla="val 21429"/>
            </a:avLst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766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SETUP GUIDE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6858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Shopify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Theme Design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2880360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UI UX Pro Max Skill trains Claude Code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build professional Shopify sections &amp; snippets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886200"/>
            <a:ext cx="1554480" cy="347472"/>
          </a:xfrm>
          <a:prstGeom prst="rect">
            <a:avLst>
              <a:gd name="adj" fmla="val 18421"/>
            </a:avLst>
          </a:prstGeom>
          <a:solidFill>
            <a:srgbClr val="7C3AED">
              <a:alpha val="3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8862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96k ★ Stars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0" y="3886200"/>
            <a:ext cx="1554480" cy="347472"/>
          </a:xfrm>
          <a:prstGeom prst="rect">
            <a:avLst>
              <a:gd name="adj" fmla="val 18421"/>
            </a:avLst>
          </a:prstGeom>
          <a:solidFill>
            <a:srgbClr val="0F766E">
              <a:alpha val="3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2286000" y="38862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 UI Styles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0" y="3886200"/>
            <a:ext cx="1554480" cy="347472"/>
          </a:xfrm>
          <a:prstGeom prst="rect">
            <a:avLst>
              <a:gd name="adj" fmla="val 18421"/>
            </a:avLst>
          </a:prstGeom>
          <a:solidFill>
            <a:srgbClr val="B45309">
              <a:alpha val="3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0" y="38862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161 Rules</a:t>
            </a:r>
            <a:endParaRPr lang="en-US" sz="10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3657600"/>
            <a:ext cx="457200" cy="457200"/>
          </a:xfrm>
          <a:prstGeom prst="rect">
            <a:avLst/>
          </a:prstGeom>
        </p:spPr>
      </p:pic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365760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1371600"/>
            <a:ext cx="3200400" cy="3200400"/>
          </a:xfrm>
          <a:prstGeom prst="ellipse">
            <a:avLst/>
          </a:prstGeom>
          <a:solidFill>
            <a:srgbClr val="10B981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9260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Setup?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841248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Claude Code solves without a UI skill — and why that's not enough for production Shopify work.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2606040" cy="2651760"/>
          </a:xfrm>
          <a:prstGeom prst="rect">
            <a:avLst>
              <a:gd name="adj" fmla="val 2807"/>
            </a:avLst>
          </a:prstGeom>
          <a:solidFill>
            <a:srgbClr val="1A1D27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72768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08483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Output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450592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writes valid Liquid but misses brand style, spacing rhythm, and e-commerce patterns.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46120" y="1417320"/>
            <a:ext cx="2606040" cy="2651760"/>
          </a:xfrm>
          <a:prstGeom prst="rect">
            <a:avLst>
              <a:gd name="adj" fmla="val 2807"/>
            </a:avLst>
          </a:prstGeom>
          <a:solidFill>
            <a:srgbClr val="1A1D27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572768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37560" y="208483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Design System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337560" y="2450592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awareness of color palettes, typography pairings, or section-level visual hierarchy.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080760" y="1417320"/>
            <a:ext cx="2606040" cy="2651760"/>
          </a:xfrm>
          <a:prstGeom prst="rect">
            <a:avLst>
              <a:gd name="adj" fmla="val 2807"/>
            </a:avLst>
          </a:prstGeom>
          <a:solidFill>
            <a:srgbClr val="1A1D27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572768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172200" y="208483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Re-work Loops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6172200" y="2450592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correct styles manually after every generation — slow, inconsistent, costly.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11480" y="4206240"/>
            <a:ext cx="8321040" cy="658368"/>
          </a:xfrm>
          <a:prstGeom prst="rect">
            <a:avLst>
              <a:gd name="adj" fmla="val 11111"/>
            </a:avLst>
          </a:prstGeom>
          <a:solidFill>
            <a:srgbClr val="1A2E1A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11480" y="4206240"/>
            <a:ext cx="8321040" cy="658368"/>
          </a:xfrm>
          <a:prstGeom prst="rect">
            <a:avLst>
              <a:gd name="adj" fmla="val 11111"/>
            </a:avLst>
          </a:prstGeom>
          <a:solidFill>
            <a:srgbClr val="10B981">
              <a:alpha val="12000"/>
            </a:srgbClr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325112"/>
            <a:ext cx="320040" cy="3200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51560" y="4279392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Feed Claude Code a UI skill → it reasons about design BEFORE it writes Liquid code.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UI UX Pro Max Skill?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84124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open-source AI skill with 96k GitHub stars — design intelligence injected into Claude Code.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1920240" cy="1115568"/>
          </a:xfrm>
          <a:prstGeom prst="rect">
            <a:avLst>
              <a:gd name="adj" fmla="val 6557"/>
            </a:avLst>
          </a:prstGeom>
          <a:solidFill>
            <a:srgbClr val="1A1D27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49047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11480" y="2057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Styles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0320" y="1417320"/>
            <a:ext cx="1920240" cy="1115568"/>
          </a:xfrm>
          <a:prstGeom prst="rect">
            <a:avLst>
              <a:gd name="adj" fmla="val 6557"/>
            </a:avLst>
          </a:prstGeom>
          <a:solidFill>
            <a:srgbClr val="1A1D27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60320" y="149047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161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560320" y="2057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Rules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2715768"/>
            <a:ext cx="1920240" cy="1115568"/>
          </a:xfrm>
          <a:prstGeom prst="rect">
            <a:avLst>
              <a:gd name="adj" fmla="val 6557"/>
            </a:avLst>
          </a:prstGeom>
          <a:solidFill>
            <a:srgbClr val="1A1D27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278892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11480" y="335584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 Pairings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60320" y="2715768"/>
            <a:ext cx="1920240" cy="1115568"/>
          </a:xfrm>
          <a:prstGeom prst="rect">
            <a:avLst>
              <a:gd name="adj" fmla="val 6557"/>
            </a:avLst>
          </a:prstGeom>
          <a:solidFill>
            <a:srgbClr val="1A1D27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560320" y="278892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2560320" y="335584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Guidelines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1325880"/>
            <a:ext cx="4160520" cy="3520440"/>
          </a:xfrm>
          <a:prstGeom prst="rect">
            <a:avLst>
              <a:gd name="adj" fmla="val 2078"/>
            </a:avLst>
          </a:prstGeom>
          <a:solidFill>
            <a:srgbClr val="1A1D27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09160" y="14630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36592" y="1920240"/>
            <a:ext cx="320040" cy="3200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4736592" y="19385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166360" y="193852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ask Claude Code to build a section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36592" y="2450592"/>
            <a:ext cx="320040" cy="3200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4736592" y="2468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166360" y="24688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triggers — reads your request type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36592" y="2980944"/>
            <a:ext cx="320040" cy="3200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4736592" y="29992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166360" y="299923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 generated (style + colors + fonts)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36592" y="3511296"/>
            <a:ext cx="320040" cy="3200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8" name="Text 26"/>
          <p:cNvSpPr/>
          <p:nvPr/>
        </p:nvSpPr>
        <p:spPr>
          <a:xfrm>
            <a:off x="4736592" y="352958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166360" y="352958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writes Liquid + CSS with design baked in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36592" y="4041648"/>
            <a:ext cx="320040" cy="3200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1" name="Text 29"/>
          <p:cNvSpPr/>
          <p:nvPr/>
        </p:nvSpPr>
        <p:spPr>
          <a:xfrm>
            <a:off x="4736592" y="40599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166360" y="405993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Pre-delivery checklist validated automatically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Setup: From GitHub → Claude Code → Shopify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84124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4-step process. One-time setup, works across all your theme projects.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11480" y="1371600"/>
            <a:ext cx="3977640" cy="1600200"/>
          </a:xfrm>
          <a:prstGeom prst="rect">
            <a:avLst>
              <a:gd name="adj" fmla="val 4571"/>
            </a:avLst>
          </a:prstGeom>
          <a:solidFill>
            <a:srgbClr val="1A1D27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76072" y="1536192"/>
            <a:ext cx="320040" cy="32004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6" name="Text 4"/>
          <p:cNvSpPr/>
          <p:nvPr/>
        </p:nvSpPr>
        <p:spPr>
          <a:xfrm>
            <a:off x="576072" y="1554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3320" y="150876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554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CLI from npm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76072" y="1993392"/>
            <a:ext cx="3639312" cy="347472"/>
          </a:xfrm>
          <a:prstGeom prst="rect">
            <a:avLst>
              <a:gd name="adj" fmla="val 13158"/>
            </a:avLst>
          </a:prstGeom>
          <a:solidFill>
            <a:srgbClr val="0A0A0A"/>
          </a:solidFill>
          <a:ln/>
        </p:spPr>
      </p:sp>
      <p:sp>
        <p:nvSpPr>
          <p:cNvPr id="10" name="Text 7"/>
          <p:cNvSpPr/>
          <p:nvPr/>
        </p:nvSpPr>
        <p:spPr>
          <a:xfrm>
            <a:off x="667512" y="199339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-g uipro-cli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76072" y="2423160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the skill package globally. Requires Node.js.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663440" y="1371600"/>
            <a:ext cx="3977640" cy="1600200"/>
          </a:xfrm>
          <a:prstGeom prst="rect">
            <a:avLst>
              <a:gd name="adj" fmla="val 4571"/>
            </a:avLst>
          </a:prstGeom>
          <a:solidFill>
            <a:srgbClr val="1A1D27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828032" y="1536192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1"/>
          <p:cNvSpPr/>
          <p:nvPr/>
        </p:nvSpPr>
        <p:spPr>
          <a:xfrm>
            <a:off x="4828032" y="1554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1508760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257800" y="1554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Skill for Claude Code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828032" y="1993392"/>
            <a:ext cx="3639312" cy="347472"/>
          </a:xfrm>
          <a:prstGeom prst="rect">
            <a:avLst>
              <a:gd name="adj" fmla="val 13158"/>
            </a:avLst>
          </a:prstGeom>
          <a:solidFill>
            <a:srgbClr val="0A0A0A"/>
          </a:solidFill>
          <a:ln/>
        </p:spPr>
      </p:sp>
      <p:sp>
        <p:nvSpPr>
          <p:cNvPr id="18" name="Text 14"/>
          <p:cNvSpPr/>
          <p:nvPr/>
        </p:nvSpPr>
        <p:spPr>
          <a:xfrm>
            <a:off x="4919472" y="199339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uipro init --ai claude --global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4828032" y="2423160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Installs to ~/.claude/skills/ — active for all projects.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411480" y="3182112"/>
            <a:ext cx="3977640" cy="1600200"/>
          </a:xfrm>
          <a:prstGeom prst="rect">
            <a:avLst>
              <a:gd name="adj" fmla="val 4571"/>
            </a:avLst>
          </a:prstGeom>
          <a:solidFill>
            <a:srgbClr val="1A1D27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76072" y="3346704"/>
            <a:ext cx="320040" cy="3200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22" name="Text 18"/>
          <p:cNvSpPr/>
          <p:nvPr/>
        </p:nvSpPr>
        <p:spPr>
          <a:xfrm>
            <a:off x="576072" y="33649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3319272"/>
            <a:ext cx="411480" cy="41148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005840" y="33649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Shopify Theme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576072" y="3803904"/>
            <a:ext cx="3639312" cy="347472"/>
          </a:xfrm>
          <a:prstGeom prst="rect">
            <a:avLst>
              <a:gd name="adj" fmla="val 13158"/>
            </a:avLst>
          </a:prstGeom>
          <a:solidFill>
            <a:srgbClr val="0A0A0A"/>
          </a:solidFill>
          <a:ln/>
        </p:spPr>
      </p:sp>
      <p:sp>
        <p:nvSpPr>
          <p:cNvPr id="26" name="Text 21"/>
          <p:cNvSpPr/>
          <p:nvPr/>
        </p:nvSpPr>
        <p:spPr>
          <a:xfrm>
            <a:off x="667512" y="380390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shopify theme dev --store ledsone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576072" y="4233672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from your Umino theme root. Claude Code reads live files.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4663440" y="3182112"/>
            <a:ext cx="3977640" cy="1600200"/>
          </a:xfrm>
          <a:prstGeom prst="rect">
            <a:avLst>
              <a:gd name="adj" fmla="val 4571"/>
            </a:avLst>
          </a:prstGeom>
          <a:solidFill>
            <a:srgbClr val="1A1D27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4828032" y="3346704"/>
            <a:ext cx="320040" cy="32004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30" name="Text 25"/>
          <p:cNvSpPr/>
          <p:nvPr/>
        </p:nvSpPr>
        <p:spPr>
          <a:xfrm>
            <a:off x="4828032" y="33649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0" y="3319272"/>
            <a:ext cx="411480" cy="41148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5257800" y="33649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Shopify CLAUDE.md Rules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4828032" y="3803904"/>
            <a:ext cx="3639312" cy="347472"/>
          </a:xfrm>
          <a:prstGeom prst="rect">
            <a:avLst>
              <a:gd name="adj" fmla="val 13158"/>
            </a:avLst>
          </a:prstGeom>
          <a:solidFill>
            <a:srgbClr val="0A0A0A"/>
          </a:solidFill>
          <a:ln/>
        </p:spPr>
      </p:sp>
      <p:sp>
        <p:nvSpPr>
          <p:cNvPr id="34" name="Text 28"/>
          <p:cNvSpPr/>
          <p:nvPr/>
        </p:nvSpPr>
        <p:spPr>
          <a:xfrm>
            <a:off x="4919472" y="380390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Create CLAUDE.md in theme root</a:t>
            </a:r>
            <a:endParaRPr lang="en-US" sz="950" dirty="0"/>
          </a:p>
        </p:txBody>
      </p:sp>
      <p:sp>
        <p:nvSpPr>
          <p:cNvPr id="35" name="Text 29"/>
          <p:cNvSpPr/>
          <p:nvPr/>
        </p:nvSpPr>
        <p:spPr>
          <a:xfrm>
            <a:off x="4828032" y="4233672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store-specific rules: naming, Umino conventions, srp- prefixes.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— Your Shopify Rules Layer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84124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skill gives design intelligence. CLAUDE.md gives store-specific intelligence. Both run together.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11480" y="1325880"/>
            <a:ext cx="4114800" cy="3566160"/>
          </a:xfrm>
          <a:prstGeom prst="rect">
            <a:avLst>
              <a:gd name="adj" fmla="val 2051"/>
            </a:avLst>
          </a:prstGeom>
          <a:solidFill>
            <a:srgbClr val="1A1D27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4447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Goes in CLAUDE.md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" y="1965960"/>
            <a:ext cx="146304" cy="1463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90195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627632" y="190195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Umino v1.6.0 — section-scoped selectors only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66928" y="2423160"/>
            <a:ext cx="146304" cy="1463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235915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27632" y="235915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srp- prefix for search results, fbt- for FBT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" y="2880360"/>
            <a:ext cx="146304" cy="1463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" y="281635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627632" y="281635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Grid preferred over flexbox for product cards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6928" y="3337560"/>
            <a:ext cx="146304" cy="1463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327355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627632" y="327355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use image_tag + image_url, never img_url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6928" y="3794760"/>
            <a:ext cx="146304" cy="1463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" y="373075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A11y: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627632" y="373075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2.4.7 focus outlines, aria-labels on all icons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66928" y="4251960"/>
            <a:ext cx="146304" cy="1463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418795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627632" y="418795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LCP images: fetchpriority=high + loading=eager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1325880"/>
            <a:ext cx="4069080" cy="3566160"/>
          </a:xfrm>
          <a:prstGeom prst="rect">
            <a:avLst>
              <a:gd name="adj" fmla="val 2051"/>
            </a:avLst>
          </a:prstGeom>
          <a:solidFill>
            <a:srgbClr val="1A1D27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00600" y="1444752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Layers Stack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00600" y="1901952"/>
            <a:ext cx="3749040" cy="548640"/>
          </a:xfrm>
          <a:prstGeom prst="rect">
            <a:avLst>
              <a:gd name="adj" fmla="val 10000"/>
            </a:avLst>
          </a:prstGeom>
          <a:solidFill>
            <a:srgbClr val="7C3AED">
              <a:alpha val="2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919472" y="19385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UX Pro Max Skill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19472" y="2176272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system: styles, colors, fonts, UX rules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510528" y="2468880"/>
            <a:ext cx="228600" cy="182880"/>
          </a:xfrm>
          <a:prstGeom prst="rect">
            <a:avLst/>
          </a:prstGeom>
          <a:solidFill>
            <a:srgbClr val="9CA3AF">
              <a:alpha val="5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800600" y="2651760"/>
            <a:ext cx="3749040" cy="548640"/>
          </a:xfrm>
          <a:prstGeom prst="rect">
            <a:avLst>
              <a:gd name="adj" fmla="val 10000"/>
            </a:avLst>
          </a:prstGeom>
          <a:solidFill>
            <a:srgbClr val="10B981">
              <a:alpha val="2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919472" y="268833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19472" y="292608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rules: naming, theme, a11y, SEO patterns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510528" y="3218688"/>
            <a:ext cx="228600" cy="182880"/>
          </a:xfrm>
          <a:prstGeom prst="rect">
            <a:avLst/>
          </a:prstGeom>
          <a:solidFill>
            <a:srgbClr val="9CA3AF">
              <a:alpha val="5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800600" y="3401568"/>
            <a:ext cx="3749040" cy="548640"/>
          </a:xfrm>
          <a:prstGeom prst="rect">
            <a:avLst>
              <a:gd name="adj" fmla="val 10000"/>
            </a:avLst>
          </a:prstGeom>
          <a:solidFill>
            <a:srgbClr val="3B82F6">
              <a:alpha val="2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4919472" y="343814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919472" y="3675888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build collection hero, product card grid…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510528" y="3968496"/>
            <a:ext cx="228600" cy="182880"/>
          </a:xfrm>
          <a:prstGeom prst="rect">
            <a:avLst/>
          </a:prstGeom>
          <a:solidFill>
            <a:srgbClr val="9CA3AF">
              <a:alpha val="5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800600" y="4151376"/>
            <a:ext cx="3749040" cy="548640"/>
          </a:xfrm>
          <a:prstGeom prst="rect">
            <a:avLst>
              <a:gd name="adj" fmla="val 10000"/>
            </a:avLst>
          </a:prstGeom>
          <a:solidFill>
            <a:srgbClr val="FBBF24">
              <a:alpha val="2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4919472" y="418795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Output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919472" y="4425696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 + CSS ready to push to theme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7C3AED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9260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Can Build — Demo Examples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84124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prompts → real Shopify Liquid output, with design system auto-applied.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2633472" cy="3611880"/>
          </a:xfrm>
          <a:prstGeom prst="rect">
            <a:avLst>
              <a:gd name="adj" fmla="val 2778"/>
            </a:avLst>
          </a:prstGeom>
          <a:solidFill>
            <a:srgbClr val="1A1D27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21208" y="1463040"/>
            <a:ext cx="1371600" cy="256032"/>
          </a:xfrm>
          <a:prstGeom prst="rect">
            <a:avLst>
              <a:gd name="adj" fmla="val 21429"/>
            </a:avLst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521208" y="14813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PAGE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21208" y="1847088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21208" y="2084832"/>
            <a:ext cx="2423160" cy="960120"/>
          </a:xfrm>
          <a:prstGeom prst="rect">
            <a:avLst>
              <a:gd name="adj" fmla="val 4762"/>
            </a:avLst>
          </a:prstGeom>
          <a:solidFill>
            <a:srgbClr val="0A0A0A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1031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"Build a product grid section for ledsone.co.uk collection page — CSS Grid, 4-col desktop, badge for new/sale, Umino theme"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21208" y="3127248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get: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21208" y="340156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CSS Grid srp-product-grid layout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21208" y="37490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Badge snippets with a11y labels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21208" y="409651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Hover states + focus outlines WCAG 2.4.7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21208" y="4443984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WebP image_tag with loading=lazy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64408" y="1325880"/>
            <a:ext cx="2633472" cy="3611880"/>
          </a:xfrm>
          <a:prstGeom prst="rect">
            <a:avLst>
              <a:gd name="adj" fmla="val 2778"/>
            </a:avLst>
          </a:prstGeom>
          <a:solidFill>
            <a:srgbClr val="1A1D27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374136" y="1463040"/>
            <a:ext cx="1371600" cy="256032"/>
          </a:xfrm>
          <a:prstGeom prst="rect">
            <a:avLst>
              <a:gd name="adj" fmla="val 21429"/>
            </a:avLst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3374136" y="14813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PAGE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74136" y="1847088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374136" y="2084832"/>
            <a:ext cx="2423160" cy="960120"/>
          </a:xfrm>
          <a:prstGeom prst="rect">
            <a:avLst>
              <a:gd name="adj" fmla="val 4762"/>
            </a:avLst>
          </a:prstGeom>
          <a:solidFill>
            <a:srgbClr val="0A0A0A"/>
          </a:solidFill>
          <a:ln/>
        </p:spPr>
      </p:sp>
      <p:sp>
        <p:nvSpPr>
          <p:cNvPr id="21" name="Text 19"/>
          <p:cNvSpPr/>
          <p:nvPr/>
        </p:nvSpPr>
        <p:spPr>
          <a:xfrm>
            <a:off x="3447288" y="21031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"Build a featured product section with FBT slider — Swiper.js, 990px breakpoint, fbt- namespace, Umino"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374136" y="3127248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get: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74136" y="340156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Swiper.js section + snippet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74136" y="37490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fbt- namespaced CSS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74136" y="409651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Card height normalisation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374136" y="4443984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Section schema with settings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117336" y="1325880"/>
            <a:ext cx="2633472" cy="3611880"/>
          </a:xfrm>
          <a:prstGeom prst="rect">
            <a:avLst>
              <a:gd name="adj" fmla="val 2778"/>
            </a:avLst>
          </a:prstGeom>
          <a:solidFill>
            <a:srgbClr val="1A1D27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27064" y="1463040"/>
            <a:ext cx="1371600" cy="256032"/>
          </a:xfrm>
          <a:prstGeom prst="rect">
            <a:avLst>
              <a:gd name="adj" fmla="val 21429"/>
            </a:avLst>
          </a:prstGeom>
          <a:solidFill>
            <a:srgbClr val="3B82F6"/>
          </a:solidFill>
          <a:ln/>
        </p:spPr>
      </p:sp>
      <p:sp>
        <p:nvSpPr>
          <p:cNvPr id="29" name="Text 27"/>
          <p:cNvSpPr/>
          <p:nvPr/>
        </p:nvSpPr>
        <p:spPr>
          <a:xfrm>
            <a:off x="6227064" y="14813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 HERO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27064" y="1847088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227064" y="2084832"/>
            <a:ext cx="2423160" cy="960120"/>
          </a:xfrm>
          <a:prstGeom prst="rect">
            <a:avLst>
              <a:gd name="adj" fmla="val 4762"/>
            </a:avLst>
          </a:prstGeom>
          <a:solidFill>
            <a:srgbClr val="0A0A0A"/>
          </a:solidFill>
          <a:ln/>
        </p:spPr>
      </p:sp>
      <p:sp>
        <p:nvSpPr>
          <p:cNvPr id="32" name="Text 30"/>
          <p:cNvSpPr/>
          <p:nvPr/>
        </p:nvSpPr>
        <p:spPr>
          <a:xfrm>
            <a:off x="6300216" y="21031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"Build a hero banner section — LCP optimised, fetchpriority=high, carousel + static variant, ledsone brand"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227064" y="3127248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get: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227064" y="340156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fetchpriority=high on hero img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227064" y="37490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loading=eager above-fold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227064" y="409651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Carousel + grid layout toggle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227064" y="4443984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Section schema + image picker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10B981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9260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for LEDsone / Electricalsone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188720"/>
            <a:ext cx="2651760" cy="1664208"/>
          </a:xfrm>
          <a:prstGeom prst="rect">
            <a:avLst>
              <a:gd name="adj" fmla="val 4396"/>
            </a:avLst>
          </a:prstGeom>
          <a:solidFill>
            <a:srgbClr val="1A1D27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353312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35331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 Faster Section Build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48640" y="1874520"/>
            <a:ext cx="2377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decisions are pre-made by the skill. Claude Code goes straight to code — no back-and-forth on styles.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264408" y="1188720"/>
            <a:ext cx="2651760" cy="1664208"/>
          </a:xfrm>
          <a:prstGeom prst="rect">
            <a:avLst>
              <a:gd name="adj" fmla="val 4396"/>
            </a:avLst>
          </a:prstGeom>
          <a:solidFill>
            <a:srgbClr val="1A1D27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353312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904488" y="135331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Brand Quality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3401568" y="1874520"/>
            <a:ext cx="2377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generated section shares the same design system. No visual inconsistency between collection, product, and home pages.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6117336" y="1188720"/>
            <a:ext cx="2651760" cy="1664208"/>
          </a:xfrm>
          <a:prstGeom prst="rect">
            <a:avLst>
              <a:gd name="adj" fmla="val 4396"/>
            </a:avLst>
          </a:prstGeom>
          <a:solidFill>
            <a:srgbClr val="1A1D27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1353312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757416" y="135331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A11y + SEO Built In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6254496" y="1874520"/>
            <a:ext cx="2377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2.4.7, aria-labels, fetchpriority, image_tag — baked into every output because CLAUDE.md enforces them.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411480" y="3063240"/>
            <a:ext cx="2651760" cy="1664208"/>
          </a:xfrm>
          <a:prstGeom prst="rect">
            <a:avLst>
              <a:gd name="adj" fmla="val 4396"/>
            </a:avLst>
          </a:prstGeom>
          <a:solidFill>
            <a:srgbClr val="1A1D27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3227832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51560" y="322783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Across Stores</a:t>
            </a:r>
            <a:endParaRPr lang="en-US" sz="1050" dirty="0"/>
          </a:p>
        </p:txBody>
      </p:sp>
      <p:sp>
        <p:nvSpPr>
          <p:cNvPr id="19" name="Text 13"/>
          <p:cNvSpPr/>
          <p:nvPr/>
        </p:nvSpPr>
        <p:spPr>
          <a:xfrm>
            <a:off x="548640" y="3749040"/>
            <a:ext cx="2377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global skill install covers ledsone.co.uk, electricalsone.co.uk, ledsone.fr — unique CLAUDE.md per store.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3264408" y="3063240"/>
            <a:ext cx="2651760" cy="1664208"/>
          </a:xfrm>
          <a:prstGeom prst="rect">
            <a:avLst>
              <a:gd name="adj" fmla="val 4396"/>
            </a:avLst>
          </a:prstGeom>
          <a:solidFill>
            <a:srgbClr val="1A1D27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3227832"/>
            <a:ext cx="384048" cy="38404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904488" y="322783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Output</a:t>
            </a:r>
            <a:endParaRPr lang="en-US" sz="1050" dirty="0"/>
          </a:p>
        </p:txBody>
      </p:sp>
      <p:sp>
        <p:nvSpPr>
          <p:cNvPr id="23" name="Text 16"/>
          <p:cNvSpPr/>
          <p:nvPr/>
        </p:nvSpPr>
        <p:spPr>
          <a:xfrm>
            <a:off x="3401568" y="3749040"/>
            <a:ext cx="2377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Snippets follow your srp-, fbt- namespace conventions. Push to theme with confidence, not with cleanup sessions.</a:t>
            </a:r>
            <a:endParaRPr lang="en-US" sz="950" dirty="0"/>
          </a:p>
        </p:txBody>
      </p:sp>
      <p:sp>
        <p:nvSpPr>
          <p:cNvPr id="24" name="Shape 17"/>
          <p:cNvSpPr/>
          <p:nvPr/>
        </p:nvSpPr>
        <p:spPr>
          <a:xfrm>
            <a:off x="6117336" y="3063240"/>
            <a:ext cx="2651760" cy="1664208"/>
          </a:xfrm>
          <a:prstGeom prst="rect">
            <a:avLst>
              <a:gd name="adj" fmla="val 4396"/>
            </a:avLst>
          </a:prstGeom>
          <a:solidFill>
            <a:srgbClr val="1A1D27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1928" y="3227832"/>
            <a:ext cx="384048" cy="38404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757416" y="322783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AI-First Dev Workflow</a:t>
            </a:r>
            <a:endParaRPr lang="en-US" sz="1050" dirty="0"/>
          </a:p>
        </p:txBody>
      </p:sp>
      <p:sp>
        <p:nvSpPr>
          <p:cNvPr id="27" name="Text 19"/>
          <p:cNvSpPr/>
          <p:nvPr/>
        </p:nvSpPr>
        <p:spPr>
          <a:xfrm>
            <a:off x="6254496" y="3749040"/>
            <a:ext cx="2377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your AIOS framework — skill as context layer, Claude Code as executor, CLAUDE.md as project spec.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457200"/>
            <a:ext cx="5486400" cy="3657600"/>
          </a:xfrm>
          <a:prstGeom prst="ellipse">
            <a:avLst/>
          </a:prstGeom>
          <a:solidFill>
            <a:srgbClr val="7C3AED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749040" y="502920"/>
            <a:ext cx="1371600" cy="256032"/>
          </a:xfrm>
          <a:prstGeom prst="rect">
            <a:avLst>
              <a:gd name="adj" fmla="val 21429"/>
            </a:avLst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749040" y="5212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Started This Week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11480" y="1737360"/>
            <a:ext cx="8321040" cy="658368"/>
          </a:xfrm>
          <a:prstGeom prst="rect">
            <a:avLst>
              <a:gd name="adj" fmla="val 11111"/>
            </a:avLst>
          </a:prstGeom>
          <a:solidFill>
            <a:srgbClr val="1A1D27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938528"/>
            <a:ext cx="1371600" cy="256032"/>
          </a:xfrm>
          <a:prstGeom prst="rect">
            <a:avLst>
              <a:gd name="adj" fmla="val 21429"/>
            </a:avLst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9568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057400" y="18470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uipro-cli globally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92040" y="1828800"/>
            <a:ext cx="3657600" cy="475488"/>
          </a:xfrm>
          <a:prstGeom prst="rect">
            <a:avLst>
              <a:gd name="adj" fmla="val 9615"/>
            </a:avLst>
          </a:prstGeom>
          <a:solidFill>
            <a:srgbClr val="0A0A0A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828800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-g uipro-cli &amp;&amp; uipro init --ai claude --global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11480" y="2505456"/>
            <a:ext cx="8321040" cy="658368"/>
          </a:xfrm>
          <a:prstGeom prst="rect">
            <a:avLst>
              <a:gd name="adj" fmla="val 11111"/>
            </a:avLst>
          </a:prstGeom>
          <a:solidFill>
            <a:srgbClr val="1A1D27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706624"/>
            <a:ext cx="1371600" cy="256032"/>
          </a:xfrm>
          <a:prstGeom prst="rect">
            <a:avLst>
              <a:gd name="adj" fmla="val 21429"/>
            </a:avLst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7249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057400" y="261518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CLAUDE.md for ledsone.co.uk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92040" y="2596896"/>
            <a:ext cx="3657600" cy="475488"/>
          </a:xfrm>
          <a:prstGeom prst="rect">
            <a:avLst>
              <a:gd name="adj" fmla="val 9615"/>
            </a:avLst>
          </a:prstGeom>
          <a:solidFill>
            <a:srgbClr val="0A0A0A"/>
          </a:solidFill>
          <a:ln/>
        </p:spPr>
      </p:sp>
      <p:sp>
        <p:nvSpPr>
          <p:cNvPr id="17" name="Text 15"/>
          <p:cNvSpPr/>
          <p:nvPr/>
        </p:nvSpPr>
        <p:spPr>
          <a:xfrm>
            <a:off x="4983480" y="2596896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Add Umino rules, naming conventions, a11y + SEO requirements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11480" y="3273552"/>
            <a:ext cx="8321040" cy="658368"/>
          </a:xfrm>
          <a:prstGeom prst="rect">
            <a:avLst>
              <a:gd name="adj" fmla="val 11111"/>
            </a:avLst>
          </a:prstGeom>
          <a:solidFill>
            <a:srgbClr val="1A1D27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3474720"/>
            <a:ext cx="1371600" cy="256032"/>
          </a:xfrm>
          <a:prstGeom prst="rect">
            <a:avLst>
              <a:gd name="adj" fmla="val 21429"/>
            </a:avLst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4930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057400" y="3383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with Collection page prompt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92040" y="3364992"/>
            <a:ext cx="3657600" cy="475488"/>
          </a:xfrm>
          <a:prstGeom prst="rect">
            <a:avLst>
              <a:gd name="adj" fmla="val 9615"/>
            </a:avLst>
          </a:prstGeom>
          <a:solidFill>
            <a:srgbClr val="0A0A0A"/>
          </a:solidFill>
          <a:ln/>
        </p:spPr>
      </p:sp>
      <p:sp>
        <p:nvSpPr>
          <p:cNvPr id="23" name="Text 21"/>
          <p:cNvSpPr/>
          <p:nvPr/>
        </p:nvSpPr>
        <p:spPr>
          <a:xfrm>
            <a:off x="4983480" y="3364992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"Build a 4-col product grid section — Umino, srp- namespace, CSS Grid"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11480" y="4041648"/>
            <a:ext cx="8321040" cy="658368"/>
          </a:xfrm>
          <a:prstGeom prst="rect">
            <a:avLst>
              <a:gd name="adj" fmla="val 11111"/>
            </a:avLst>
          </a:prstGeom>
          <a:solidFill>
            <a:srgbClr val="1A1D27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" y="4242816"/>
            <a:ext cx="1371600" cy="256032"/>
          </a:xfrm>
          <a:prstGeom prst="rect">
            <a:avLst>
              <a:gd name="adj" fmla="val 21429"/>
            </a:avLst>
          </a:prstGeom>
          <a:solidFill>
            <a:srgbClr val="FBBF24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2611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057400" y="415137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output, refine CLAUDE.md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92040" y="4133088"/>
            <a:ext cx="3657600" cy="475488"/>
          </a:xfrm>
          <a:prstGeom prst="rect">
            <a:avLst>
              <a:gd name="adj" fmla="val 9615"/>
            </a:avLst>
          </a:prstGeom>
          <a:solidFill>
            <a:srgbClr val="0A0A0A"/>
          </a:solidFill>
          <a:ln/>
        </p:spPr>
      </p:sp>
      <p:sp>
        <p:nvSpPr>
          <p:cNvPr id="29" name="Text 27"/>
          <p:cNvSpPr/>
          <p:nvPr/>
        </p:nvSpPr>
        <p:spPr>
          <a:xfrm>
            <a:off x="4983480" y="4133088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Iterate rules based on first output quality</a:t>
            </a:r>
            <a:endParaRPr lang="en-US" sz="850" dirty="0"/>
          </a:p>
        </p:txBody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09160"/>
            <a:ext cx="320040" cy="32004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868680" y="47274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github.com/nextlevelbuilder/ui-ux-pro-max-skill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5029200" y="47274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time: ~30 min  |  Zero ongoing cost  |  MIT License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7132320" y="-457200"/>
            <a:ext cx="3657600" cy="3657600"/>
          </a:xfrm>
          <a:prstGeom prst="ellipse">
            <a:avLst/>
          </a:prstGeom>
          <a:solidFill>
            <a:srgbClr val="7C3AED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2926080"/>
            <a:ext cx="2743200" cy="2743200"/>
          </a:xfrm>
          <a:prstGeom prst="ellipse">
            <a:avLst/>
          </a:prstGeom>
          <a:solidFill>
            <a:srgbClr val="10B981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292608"/>
            <a:ext cx="1463040" cy="256032"/>
          </a:xfrm>
          <a:prstGeom prst="rect">
            <a:avLst>
              <a:gd name="adj" fmla="val 21429"/>
            </a:avLst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31089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NOTE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62179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Setup Can Be Adapted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11480" y="12618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 and toolchain above is a starting point — not fixed.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adjust it based on what works best for our stores and team.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1480" y="1901952"/>
            <a:ext cx="2651760" cy="2944368"/>
          </a:xfrm>
          <a:prstGeom prst="rect">
            <a:avLst>
              <a:gd name="adj" fmla="val 2759"/>
            </a:avLst>
          </a:prstGeom>
          <a:solidFill>
            <a:srgbClr val="1A1D27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2029968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05840" y="202996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Customisation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94360" y="2606040"/>
            <a:ext cx="118872" cy="11887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2" name="Text 9"/>
          <p:cNvSpPr/>
          <p:nvPr/>
        </p:nvSpPr>
        <p:spPr>
          <a:xfrm>
            <a:off x="795528" y="2514600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or extend the UI style ruleset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94360" y="3118104"/>
            <a:ext cx="118872" cy="11887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4" name="Text 11"/>
          <p:cNvSpPr/>
          <p:nvPr/>
        </p:nvSpPr>
        <p:spPr>
          <a:xfrm>
            <a:off x="795528" y="3026664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Shopify-specific design tokens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94360" y="3630168"/>
            <a:ext cx="118872" cy="11887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6" name="Text 13"/>
          <p:cNvSpPr/>
          <p:nvPr/>
        </p:nvSpPr>
        <p:spPr>
          <a:xfrm>
            <a:off x="795528" y="3538728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e-commerce palette to match LEDsone brand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94360" y="4142232"/>
            <a:ext cx="118872" cy="11887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8" name="Text 15"/>
          <p:cNvSpPr/>
          <p:nvPr/>
        </p:nvSpPr>
        <p:spPr>
          <a:xfrm>
            <a:off x="795528" y="4050792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to a specific skill version for stability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264408" y="1901952"/>
            <a:ext cx="2651760" cy="2944368"/>
          </a:xfrm>
          <a:prstGeom prst="rect">
            <a:avLst>
              <a:gd name="adj" fmla="val 2759"/>
            </a:avLst>
          </a:prstGeom>
          <a:solidFill>
            <a:srgbClr val="1A1D27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2029968"/>
            <a:ext cx="347472" cy="34747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858768" y="202996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Changes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3447288" y="2606040"/>
            <a:ext cx="118872" cy="11887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3" name="Text 19"/>
          <p:cNvSpPr/>
          <p:nvPr/>
        </p:nvSpPr>
        <p:spPr>
          <a:xfrm>
            <a:off x="3648456" y="2514600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global install — use per-project instead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3447288" y="3118104"/>
            <a:ext cx="118872" cy="11887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5" name="Text 21"/>
          <p:cNvSpPr/>
          <p:nvPr/>
        </p:nvSpPr>
        <p:spPr>
          <a:xfrm>
            <a:off x="3648456" y="3026664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skill to aios-piranav repo as committed asset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3447288" y="3630168"/>
            <a:ext cx="118872" cy="11887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7" name="Text 23"/>
          <p:cNvSpPr/>
          <p:nvPr/>
        </p:nvSpPr>
        <p:spPr>
          <a:xfrm>
            <a:off x="3648456" y="3538728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into existing AIOS pipeline steps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3447288" y="4142232"/>
            <a:ext cx="118872" cy="11887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9" name="Text 25"/>
          <p:cNvSpPr/>
          <p:nvPr/>
        </p:nvSpPr>
        <p:spPr>
          <a:xfrm>
            <a:off x="3648456" y="4050792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via GPT orchestrator before Claude Code runs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6117336" y="1901952"/>
            <a:ext cx="2651760" cy="2944368"/>
          </a:xfrm>
          <a:prstGeom prst="rect">
            <a:avLst>
              <a:gd name="adj" fmla="val 2759"/>
            </a:avLst>
          </a:prstGeom>
          <a:solidFill>
            <a:srgbClr val="1A1D27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29968"/>
            <a:ext cx="347472" cy="347472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6711696" y="202996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Evolution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6300216" y="2606040"/>
            <a:ext cx="118872" cy="11887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4" name="Text 29"/>
          <p:cNvSpPr/>
          <p:nvPr/>
        </p:nvSpPr>
        <p:spPr>
          <a:xfrm>
            <a:off x="6501384" y="2514600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minimal — expand rules as gaps appear</a:t>
            </a:r>
            <a:endParaRPr lang="en-US" sz="950" dirty="0"/>
          </a:p>
        </p:txBody>
      </p:sp>
      <p:sp>
        <p:nvSpPr>
          <p:cNvPr id="35" name="Shape 30"/>
          <p:cNvSpPr/>
          <p:nvPr/>
        </p:nvSpPr>
        <p:spPr>
          <a:xfrm>
            <a:off x="6300216" y="3118104"/>
            <a:ext cx="118872" cy="11887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6" name="Text 31"/>
          <p:cNvSpPr/>
          <p:nvPr/>
        </p:nvSpPr>
        <p:spPr>
          <a:xfrm>
            <a:off x="6501384" y="3026664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CLAUDE.md per store (ledsone / electricalsone)</a:t>
            </a:r>
            <a:endParaRPr lang="en-US" sz="950" dirty="0"/>
          </a:p>
        </p:txBody>
      </p:sp>
      <p:sp>
        <p:nvSpPr>
          <p:cNvPr id="37" name="Shape 32"/>
          <p:cNvSpPr/>
          <p:nvPr/>
        </p:nvSpPr>
        <p:spPr>
          <a:xfrm>
            <a:off x="6300216" y="3630168"/>
            <a:ext cx="118872" cy="11887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8" name="Text 33"/>
          <p:cNvSpPr/>
          <p:nvPr/>
        </p:nvSpPr>
        <p:spPr>
          <a:xfrm>
            <a:off x="6501384" y="3538728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French store (ledsone.fr) Shopify Markets rules</a:t>
            </a:r>
            <a:endParaRPr lang="en-US" sz="950" dirty="0"/>
          </a:p>
        </p:txBody>
      </p:sp>
      <p:sp>
        <p:nvSpPr>
          <p:cNvPr id="39" name="Shape 34"/>
          <p:cNvSpPr/>
          <p:nvPr/>
        </p:nvSpPr>
        <p:spPr>
          <a:xfrm>
            <a:off x="6300216" y="4142232"/>
            <a:ext cx="118872" cy="11887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0" name="Text 35"/>
          <p:cNvSpPr/>
          <p:nvPr/>
        </p:nvSpPr>
        <p:spPr>
          <a:xfrm>
            <a:off x="6501384" y="4050792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Version-control CLAUDE.md alongside theme commits</a:t>
            </a:r>
            <a:endParaRPr lang="en-US" sz="950" dirty="0"/>
          </a:p>
        </p:txBody>
      </p:sp>
      <p:sp>
        <p:nvSpPr>
          <p:cNvPr id="41" name="Shape 36"/>
          <p:cNvSpPr/>
          <p:nvPr/>
        </p:nvSpPr>
        <p:spPr>
          <a:xfrm>
            <a:off x="411480" y="4736592"/>
            <a:ext cx="8321040" cy="274320"/>
          </a:xfrm>
          <a:prstGeom prst="rect">
            <a:avLst>
              <a:gd name="adj" fmla="val 16667"/>
            </a:avLst>
          </a:prstGeom>
          <a:solidFill>
            <a:srgbClr val="FBBF24">
              <a:alpha val="12000"/>
            </a:srgbClr>
          </a:solidFill>
          <a:ln/>
        </p:spPr>
      </p:sp>
      <p:pic>
        <p:nvPicPr>
          <p:cNvPr id="4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754880"/>
            <a:ext cx="201168" cy="201168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777240" y="4745736"/>
            <a:ext cx="7818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here is final — raise it in the next dev sync and we'll lock down the approach that fits the team.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UI UX Pro Max Skill × Shopify Theme</dc:title>
  <dc:subject>PptxGenJS Presentation</dc:subject>
  <dc:creator>PptxGenJS</dc:creator>
  <cp:lastModifiedBy>PptxGenJS</cp:lastModifiedBy>
  <cp:revision>1</cp:revision>
  <dcterms:created xsi:type="dcterms:W3CDTF">2026-06-26T04:20:15Z</dcterms:created>
  <dcterms:modified xsi:type="dcterms:W3CDTF">2026-06-26T04:20:15Z</dcterms:modified>
</cp:coreProperties>
</file>